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0C4E8"/>
                </a:solidFill>
                <a:latin typeface="Microsoft YaHei"/>
              </a:defRPr>
            </a:pPr>
            <a:r>
              <a:t>第八届中国研究生人工智能创新大赛 · 企业赛题七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面向低算力平台的</a:t>
            </a:r>
            <a:br/>
            <a:r>
              <a:t>实时跌倒检测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A0C4E8"/>
                </a:solidFill>
                <a:latin typeface="Microsoft YaHei"/>
              </a:defRPr>
            </a:pPr>
            <a:r>
              <a:t>双尺度人体时序建模与七头可解释融合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2743200" cy="25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抹茶吃不饱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1645920" cy="320040"/>
          </a:xfrm>
          <a:prstGeom prst="roundRect">
            <a:avLst/>
          </a:prstGeom>
          <a:solidFill>
            <a:srgbClr val="253A5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817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C4E8"/>
                </a:solidFill>
                <a:latin typeface="Microsoft YaHei"/>
              </a:defRPr>
            </a:pPr>
            <a:r>
              <a:t>普通 RGB 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663440"/>
            <a:ext cx="1645920" cy="320040"/>
          </a:xfrm>
          <a:prstGeom prst="roundRect">
            <a:avLst/>
          </a:prstGeom>
          <a:solidFill>
            <a:srgbClr val="253A5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46817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C4E8"/>
                </a:solidFill>
                <a:latin typeface="Microsoft YaHei"/>
              </a:defRPr>
            </a:pPr>
            <a:r>
              <a:t>4.053M 参数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663440"/>
            <a:ext cx="1645920" cy="320040"/>
          </a:xfrm>
          <a:prstGeom prst="roundRect">
            <a:avLst/>
          </a:prstGeom>
          <a:solidFill>
            <a:srgbClr val="253A5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46817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C4E8"/>
                </a:solidFill>
                <a:latin typeface="Microsoft YaHei"/>
              </a:defRPr>
            </a:pPr>
            <a:r>
              <a:t>固定融合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4663440"/>
            <a:ext cx="1645920" cy="320040"/>
          </a:xfrm>
          <a:prstGeom prst="roundRect">
            <a:avLst/>
          </a:prstGeom>
          <a:solidFill>
            <a:srgbClr val="253A5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6817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0C4E8"/>
                </a:solidFill>
                <a:latin typeface="Microsoft YaHei"/>
              </a:defRPr>
            </a:pPr>
            <a:r>
              <a:t>结构化证据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097280"/>
            <a:ext cx="3840480" cy="4572000"/>
          </a:xfrm>
          <a:prstGeom prst="roundRect">
            <a:avLst/>
          </a:prstGeom>
          <a:solidFill>
            <a:srgbClr val="253A5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280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系统架构预览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737360"/>
            <a:ext cx="2926080" cy="502920"/>
          </a:xfrm>
          <a:prstGeom prst="roundRect">
            <a:avLst/>
          </a:prstGeom>
          <a:solidFill>
            <a:srgbClr val="1B2A4A"/>
          </a:solidFill>
          <a:ln>
            <a:solidFill>
              <a:srgbClr val="4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78308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RGB 视频输入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377440"/>
            <a:ext cx="2926080" cy="502920"/>
          </a:xfrm>
          <a:prstGeom prst="roundRect">
            <a:avLst/>
          </a:prstGeom>
          <a:solidFill>
            <a:srgbClr val="1B2A4A"/>
          </a:solidFill>
          <a:ln>
            <a:solidFill>
              <a:srgbClr val="4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42316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YOLO11n-pose</a:t>
            </a:r>
            <a:br/>
            <a:r>
              <a:t>姿态提取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017520"/>
            <a:ext cx="2926080" cy="502920"/>
          </a:xfrm>
          <a:prstGeom prst="roundRect">
            <a:avLst/>
          </a:prstGeom>
          <a:solidFill>
            <a:srgbClr val="1B2A4A"/>
          </a:solidFill>
          <a:ln>
            <a:solidFill>
              <a:srgbClr val="4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06324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16帧短时 + 48帧长时</a:t>
            </a:r>
            <a:br/>
            <a:r>
              <a:t>双尺度骨架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657600"/>
            <a:ext cx="2926080" cy="502920"/>
          </a:xfrm>
          <a:prstGeom prst="roundRect">
            <a:avLst/>
          </a:prstGeom>
          <a:solidFill>
            <a:srgbClr val="1B2A4A"/>
          </a:solidFill>
          <a:ln>
            <a:solidFill>
              <a:srgbClr val="4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70332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7头 TCN 融合</a:t>
            </a:r>
            <a:br/>
            <a:r>
              <a:t>固定等权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97680"/>
            <a:ext cx="2926080" cy="502920"/>
          </a:xfrm>
          <a:prstGeom prst="roundRect">
            <a:avLst/>
          </a:prstGeom>
          <a:solidFill>
            <a:srgbClr val="1B2A4A"/>
          </a:solidFill>
          <a:ln>
            <a:solidFill>
              <a:srgbClr val="40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34340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可解释 JSON 输出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555480" y="2240280"/>
            <a:ext cx="182880" cy="137160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9555480" y="2880360"/>
            <a:ext cx="182880" cy="137160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9555480" y="3520440"/>
            <a:ext cx="182880" cy="137160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9555480" y="4160520"/>
            <a:ext cx="182880" cy="137160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5943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A0C0"/>
                </a:solidFill>
                <a:latin typeface="Segoe UI"/>
              </a:defRPr>
            </a:pPr>
            <a:r>
              <a:t>01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跌倒是一个时序事件，单帧姿态不足以完成可靠判别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91440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77440" y="2212848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直立/行走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正常动态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2212848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468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失衡/下坠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88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快速姿态变化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2212848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接触/落地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短时冲击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0" y="2212848"/>
            <a:ext cx="164592" cy="164592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4688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持续倒地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788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长时上下文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74720"/>
            <a:ext cx="9601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584448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968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61188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短窗口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31920"/>
            <a:ext cx="92354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捕捉快速下坠动作的关键帧变化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297680"/>
            <a:ext cx="9601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407408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968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3484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长窗口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754880"/>
            <a:ext cx="92354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确认完整动作上下文，区分跌倒与蹲下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120640"/>
            <a:ext cx="9601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230368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968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2578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轨迹保留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77840"/>
            <a:ext cx="92354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最终告警需保留 track_id 和时间区间，支持人工回看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目标与评价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研究目标同时约束排序性能、计算成本与可审计性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排序质量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74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mAP / P@R90 / P@R95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463040"/>
            <a:ext cx="5486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6002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669280" y="192024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高召回工作区间的误报控制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60320"/>
            <a:ext cx="100584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01752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9718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工程效率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75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参数量 / FP32 / ms·frame⁻¹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926080"/>
            <a:ext cx="5486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063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669280" y="338328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低算力平台可运行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23360"/>
            <a:ext cx="100584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34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可审计性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800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9688"/>
                </a:solidFill>
                <a:latin typeface="Microsoft YaHei"/>
              </a:defRPr>
            </a:pPr>
            <a:r>
              <a:t>track_id / proposal / logits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4389120"/>
            <a:ext cx="5486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4526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669280" y="484632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最终分数可回溯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短时骨架、长时骨架和人体 ROI 在 clip 层形成互补证据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输入层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8288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A4A"/>
                </a:solidFill>
                <a:latin typeface="Microsoft YaHei"/>
              </a:defRPr>
            </a:pPr>
            <a:r>
              <a:t>RGB 视频流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video stream → YOLO11n-pose</a:t>
            </a:r>
            <a:br/>
            <a:r>
              <a:t>17关键点 · 人体框 · track_id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双尺度时序编码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737360"/>
            <a:ext cx="21031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87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4878CF"/>
                </a:solidFill>
                <a:latin typeface="Microsoft YaHei"/>
              </a:defRPr>
            </a:pPr>
            <a:r>
              <a:t>短时分支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03120"/>
            <a:ext cx="19202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16 帧骨架序列</a:t>
            </a:r>
            <a:br/>
            <a:r>
              <a:t>6-stream causal TCN</a:t>
            </a:r>
            <a:br/>
            <a:r>
              <a:t>几何 + 运动学特征</a:t>
            </a:r>
            <a:br/>
            <a:r>
              <a:t>TopK MIL 实例选择</a:t>
            </a:r>
            <a:br/>
            <a:br/>
            <a:r>
              <a:t>×6 成员模型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737360"/>
            <a:ext cx="21031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78308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E69F00"/>
                </a:solidFill>
                <a:latin typeface="Microsoft YaHei"/>
              </a:defRPr>
            </a:pPr>
            <a:r>
              <a:t>长时分支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103120"/>
            <a:ext cx="19202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48 帧骨架序列</a:t>
            </a:r>
            <a:br/>
            <a:r>
              <a:t>long-context expert</a:t>
            </a:r>
            <a:br/>
            <a:r>
              <a:t>完整动作上下文</a:t>
            </a:r>
            <a:br/>
            <a:br/>
            <a:r>
              <a:t>×1 成员模型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31920"/>
            <a:ext cx="2560320" cy="6400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977639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B2A4A"/>
                </a:solidFill>
                <a:latin typeface="Microsoft YaHei"/>
              </a:defRPr>
            </a:pPr>
            <a:r>
              <a:t>共享 ROI Token · P3/P4 · 320/640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371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融合输出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737360"/>
            <a:ext cx="25603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7830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8F00"/>
                </a:solidFill>
                <a:latin typeface="Microsoft YaHei"/>
              </a:defRPr>
            </a:pPr>
            <a:r>
              <a:t>七头固定融合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103120"/>
            <a:ext cx="23774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6 短时 + 1 长时 = 7 头</a:t>
            </a:r>
            <a:br/>
            <a:r>
              <a:t>mean logits → σ</a:t>
            </a:r>
            <a:br/>
            <a:r>
              <a:t>固定等权，不读取标签</a:t>
            </a:r>
            <a:br/>
            <a:br/>
            <a:r>
              <a:t>输出:</a:t>
            </a:r>
            <a:br/>
            <a:r>
              <a:t>score · proposal · logits</a:t>
            </a:r>
            <a:br/>
            <a:r>
              <a:t>track_id · latency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834640" y="2377440"/>
            <a:ext cx="54864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2834640" y="2926080"/>
            <a:ext cx="54864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5669280" y="2560320"/>
            <a:ext cx="73152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8046720" y="2560320"/>
            <a:ext cx="73152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部署阶段不读取标签、真实事件区间或真实人物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数据与协议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数据与评价协议分层记录，避免不同口径之间的横向混用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46304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评价/使用边界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训练与选择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OF-Syn train · 5-fold grouped OOF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结构选择、配对 bootstrap；不读取 sealed test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冻结验证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OF-Syn validation · 1,200 clips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报告 mAP、P@R90、P@R95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现场演示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URFD fall-01-cam1 · 160 frames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仅用于端到端动态效果和功能烟测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运行完整性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MANIFEST.json · 174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源码、权重、依赖逐文件 SHA-256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3840480"/>
            <a:ext cx="100584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7764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来源与合规边界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9692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数据: OmniFall 标注与 OF-Syn 合成视频 · 上游 random clip split；不宣称身份独立</a:t>
            </a:r>
            <a:br/>
            <a:r>
              <a:t>算法: Ultralytics YOLO11n-pose + PyTorch · 17 关键点、人体框与时序特征</a:t>
            </a:r>
            <a:br/>
            <a:r>
              <a:t>硬件: Python 3.11 + CUDA GPU · 本地推理；冻结权重与清单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模型选择与实验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长时专家的价值来自互补性，而不是单头峰值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241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参数量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OOF mAP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Val mAP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TCN (短时×6)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0.134M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57.92%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66.96%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TopK MIL + 运动学特征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STGCN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~1.5M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57.89%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64.31%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图卷积，固定拓扑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~1.2M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57.98%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62.04%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全局注意力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7头融合 (最终)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4.053M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58.96%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70.47%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固定等权 logit 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36576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+1.335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mAP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6576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7947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+1.200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4805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P@R90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6576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37947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+1.470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44805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P@R95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paired bootstrap mAP Δ 95% CI [+0.055, +2.333]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8F00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149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SOTA on NTU ≠ works on small datasets  |  固定拓扑 &gt; 学习拓扑 &gt; 动态拓扑  |  数据量小时，简单架构更稳健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消融实验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五折配对验证与负实验记录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9144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137160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TCN Val mAP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7头 Val mAP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 mAP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Fold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70.1%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+0.9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提升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Fold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+1.7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Fold 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62.1%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64.5%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+2.4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最大增益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Fold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+0.8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✅ 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Fold 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66.0%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65.4%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−0.6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⚠️ 唯一下降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8404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8F00"/>
                </a:solidFill>
                <a:latin typeface="Microsoft YaHei"/>
              </a:defRPr>
            </a:pPr>
            <a:r>
              <a:t>负实验：架构替换失败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663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3-stream (TCN+SA-TDGFormer+InfoGCN) → val mAP 64.87% (−2.10%)</a:t>
            </a:r>
            <a:br/>
            <a:br/>
            <a:r>
              <a:t>原因: SA-TDGFormer 内部 GCN 分支在小数据上学到噪声邻接</a:t>
            </a:r>
            <a:br/>
            <a:r>
              <a:t>InfoGCN 的 k-NN 动态拓扑在小数据上产生不稳定的逐帧拓扑</a:t>
            </a:r>
            <a:br/>
            <a:br/>
            <a:r>
              <a:t>结论: 数据量小时，架构搜索不是正确杠杆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正确优先级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4663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1. 增加真实世界数据 (UP-Fall, Le2i, CMDFall)</a:t>
            </a:r>
            <a:br/>
            <a:r>
              <a:t>2. 数据增强 (关节丢弃、时序抖动、骨架缩放)</a:t>
            </a:r>
            <a:br/>
            <a:r>
              <a:t>3. 正则化 (标签平滑 ε=0.1, dropout, weight decay)</a:t>
            </a:r>
            <a:br/>
            <a:r>
              <a:t>4. OOF 阈值优化</a:t>
            </a:r>
            <a:br/>
            <a:r>
              <a:t>5. 输入多样性 (bone + motion features)</a:t>
            </a:r>
            <a:br/>
            <a:r>
              <a:t>6. 仅在有足够数据后考虑架构变更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冻结验证结果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冻结验证与工程指标共同说明效果和部署代价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75.208%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OF-Syn val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77.907%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P@R90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716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5087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72.509%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1945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P@R95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4.053M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参数量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2004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3375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15.46 MiB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0233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FP32 模型大小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320040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3375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B2A4A"/>
                </a:solidFill>
                <a:latin typeface="Segoe UI"/>
              </a:defRPr>
            </a:pPr>
            <a:r>
              <a:t>15.45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0233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推理延迟 (RTX 4060)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749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竞赛约束 vs 实际表现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10149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参数量: ≤20M → 实际 4.053M (20%)  |  FP32: ≤80MB → 实际 15.46 MiB (19%)  |  延迟: ≤100ms → 实际 15.45 ms (15%)  |  验证指标、模型规模和完整视频耗时分别按其原始口径报告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端到端演示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现场演示同步显示动作、轨迹、候选时间与七头输出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41732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原始 RGB 动作过程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实时视频帧显示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1488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7627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031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17 点姿态与人体框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YOLO11n-pose 关键点可视化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288036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0779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34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连续 track_id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089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多目标跟踪轨迹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3931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66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0.77-4.77s 候选区间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404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时序候选窗口高亮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34340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7083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976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七个 raw logits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72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7头成员模型原始输出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074920"/>
            <a:ext cx="411480" cy="411480"/>
          </a:xfrm>
          <a:prstGeom prst="ellipse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0235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292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固定融合风险分数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035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最终可解释风险评分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508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结构化 JSON 输出格式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828800"/>
            <a:ext cx="466344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{</a:t>
            </a:r>
            <a:br/>
            <a:r>
              <a:t>  "score": 0.178,</a:t>
            </a:r>
            <a:br/>
            <a:r>
              <a:t>  "proposal": [0.77, 4.77],</a:t>
            </a:r>
            <a:br/>
            <a:r>
              <a:t>  "track_id": 3,</a:t>
            </a:r>
            <a:br/>
            <a:r>
              <a:t>  "member_logits": [0.12, 0.15, ...],</a:t>
            </a:r>
            <a:br/>
            <a:r>
              <a:t>  "fps": 64.7,</a:t>
            </a:r>
            <a:br/>
            <a:r>
              <a:t>  "latency_ms": 15.45</a:t>
            </a:r>
            <a:br/>
            <a:r>
              <a:t>}</a:t>
            </a:r>
            <a:br/>
            <a:br/>
            <a:r>
              <a:t>每个字段可独立审计:</a:t>
            </a:r>
            <a:br/>
            <a:r>
              <a:t>• score: 融合风险排序</a:t>
            </a:r>
            <a:br/>
            <a:r>
              <a:t>• proposal: 候选时间区间</a:t>
            </a:r>
            <a:br/>
            <a:r>
              <a:t>• member_logits: 7头一致性检查</a:t>
            </a:r>
            <a:br/>
            <a:r>
              <a:t>• track_id: 人物轨迹定位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工程价值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可解释输出让系统更容易接入人工复核与告警审计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2011680" cy="54864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track_id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定位具体人物轨迹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通过 YOLO11n-pose 跟踪分配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86000"/>
            <a:ext cx="2011680" cy="54864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317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回看候选时间区间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060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从姿态运动生成，非标签读取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00400"/>
            <a:ext cx="2011680" cy="54864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member_logits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461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检查成员一致性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204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7头原始输出，可追溯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14800"/>
            <a:ext cx="2011680" cy="54864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605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提供融合风险排序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4348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固定等权融合，不搜索阈值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29200"/>
            <a:ext cx="2011680" cy="548640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0749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监测部署性能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492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A5A5A"/>
                </a:solidFill>
                <a:latin typeface="Microsoft YaHei"/>
              </a:defRPr>
            </a:pPr>
            <a:r>
              <a:t>per-frame 计时，可复现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371600"/>
            <a:ext cx="41148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508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8F00"/>
                </a:solidFill>
                <a:latin typeface="Microsoft YaHei"/>
              </a:defRPr>
            </a:pPr>
            <a:r>
              <a:t>适用与不适用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1828800"/>
            <a:ext cx="374904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✅ 适用场景:</a:t>
            </a:r>
            <a:br/>
            <a:r>
              <a:t>• 养老院、家庭看护</a:t>
            </a:r>
            <a:br/>
            <a:r>
              <a:t>• 康复中心监控</a:t>
            </a:r>
            <a:br/>
            <a:r>
              <a:t>• 病房辅助值守</a:t>
            </a:r>
            <a:br/>
            <a:r>
              <a:t>• 工厂安全巡检</a:t>
            </a:r>
            <a:br/>
            <a:br/>
            <a:r>
              <a:t>⚠️ 不适用场景:</a:t>
            </a:r>
            <a:br/>
            <a:r>
              <a:t>• 医疗诊断依据</a:t>
            </a:r>
            <a:br/>
            <a:r>
              <a:t>• 唯一决策依据</a:t>
            </a:r>
            <a:br/>
            <a:r>
              <a:t>• 多人长期遮挡</a:t>
            </a:r>
            <a:br/>
            <a:r>
              <a:t>• 姿态严重缺失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研究贡献在于低预算下整合互补时序证据，并保留可复核链条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8308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16/48帧双尺度骨架 + 共享 ROI token + 七头固定融合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031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双尺度时序建模捕捉短时冲击和长时上下文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2608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803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461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五折配对增益、冻结验证指标、动态端到端演示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661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4/5 折提升，bootstrap CI 显著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A4A"/>
                </a:solidFill>
                <a:latin typeface="Microsoft YaHei"/>
              </a:defRPr>
            </a:pPr>
            <a:r>
              <a:t>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091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普通 RGB 输入、低参数规模、轨迹与时间区间可回看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292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4.053M 参数，15.45ms 延迟，可审计输出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669280"/>
            <a:ext cx="10515600" cy="25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B2A4A"/>
                </a:solidFill>
                <a:latin typeface="Microsoft YaHei"/>
              </a:defRPr>
            </a:pPr>
            <a:r>
              <a:t>面向养老、家庭看护、康复与病房辅助值守的工程化原型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A4A"/>
                </a:solidFill>
                <a:latin typeface="Microsoft YaHei"/>
              </a:defRPr>
            </a:pPr>
            <a:r>
              <a:t>参考资料与可复核工件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5156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5A5A5A"/>
                </a:solidFill>
                <a:latin typeface="Microsoft YaHei"/>
              </a:defRPr>
            </a:pPr>
            <a:r>
              <a:t>外部来源与项目证据路径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00968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A5A5A"/>
                </a:solidFill>
                <a:latin typeface="Microsoft YaHei"/>
              </a:defRPr>
            </a:pPr>
            <a:r>
              <a:t>抹茶吃不饱 · 企业赛题七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[1] UR Fall Detection Dataset, University of Rzeszów.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[2] Ultralytics, Pose Estimation with YOLO.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[3] PyTorch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[4] OF-Syn: OmniFall 合成跌倒数据集.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[5] YOLO11n-pose: Ultralytics YOLO11 姿态估计模型.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[6] Krogh, A. &amp; Vedelsby, J. (1995). Neural network ensembles, cross validation, and active learning.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[7] Kuncheva, L. I. &amp; Whitaker, C. J. (2003). Measures of diversity in classifier ensembles.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29200"/>
            <a:ext cx="10058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6636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可复核工件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9692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A5A5A"/>
                </a:solidFill>
                <a:latin typeface="Microsoft YaHei"/>
              </a:defRPr>
            </a:pPr>
            <a:r>
              <a:t>运行包: weights/edgefall_seven_head_label_blind_v1.pt + weights/yolo11n-pose.pt</a:t>
            </a:r>
            <a:br/>
            <a:r>
              <a:t>推理命令: python -m tools.infer_seven_head &lt;input.mp4&gt; --artifact weights/edgefall_seven_head_label_blind_v1.pt</a:t>
            </a:r>
            <a:br/>
            <a:r>
              <a:t>MANIFEST.json: 174 个运行包文件按 SHA-256 清单核验；权重、源码与依赖清单均可追溯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